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6E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3427" autoAdjust="0"/>
  </p:normalViewPr>
  <p:slideViewPr>
    <p:cSldViewPr snapToGrid="0">
      <p:cViewPr varScale="1">
        <p:scale>
          <a:sx n="57" d="100"/>
          <a:sy n="57" d="100"/>
        </p:scale>
        <p:origin x="2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164BC-886B-459E-8474-FAE31DA62360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A4E91-1A59-4E43-9C4E-9E8FF8BC5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607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8A4E91-1A59-4E43-9C4E-9E8FF8BC5B2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117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27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60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764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434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11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15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22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5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81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62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79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0061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7436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574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618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881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355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70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BB52767-7E63-4D30-BA02-590AF5044F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9E1B249-F23C-4C25-86D4-95B27D8D3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89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8023-451B-A3DB-04FC-7C2605A79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074" y="167269"/>
            <a:ext cx="11006254" cy="239751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🛡️ </a:t>
            </a:r>
            <a:r>
              <a:rPr lang="en-US" b="1" u="sng" dirty="0">
                <a:solidFill>
                  <a:srgbClr val="002060"/>
                </a:solidFill>
              </a:rPr>
              <a:t>AI-Driven Comment Toxicity Detection</a:t>
            </a:r>
            <a:endParaRPr lang="en-IN" b="1" u="sng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7E24FC-4D4F-9540-3E9B-FBFFA1F5E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6" y="3345366"/>
            <a:ext cx="10368983" cy="1070517"/>
          </a:xfrm>
        </p:spPr>
        <p:txBody>
          <a:bodyPr>
            <a:normAutofit fontScale="92500"/>
          </a:bodyPr>
          <a:lstStyle/>
          <a:p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Multi-Label Classification using Deep Learning (Bi-LSTM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226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C299-DA3B-8EFA-E706-4E0E8809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89211"/>
            <a:ext cx="9905998" cy="1761893"/>
          </a:xfrm>
        </p:spPr>
        <p:txBody>
          <a:bodyPr>
            <a:normAutofit fontScale="90000"/>
          </a:bodyPr>
          <a:lstStyle/>
          <a:p>
            <a:pPr algn="l"/>
            <a:r>
              <a:rPr lang="en-US" b="1" i="1" dirty="0">
                <a:solidFill>
                  <a:srgbClr val="002060"/>
                </a:solidFill>
              </a:rPr>
              <a:t>                             </a:t>
            </a:r>
            <a:r>
              <a:rPr lang="en-US" b="1" i="1" u="sng" dirty="0">
                <a:solidFill>
                  <a:srgbClr val="002060"/>
                </a:solidFill>
              </a:rPr>
              <a:t>Objective</a:t>
            </a:r>
            <a:r>
              <a:rPr lang="en-US" b="1" dirty="0">
                <a:solidFill>
                  <a:srgbClr val="002060"/>
                </a:solidFill>
              </a:rPr>
              <a:t>:</a:t>
            </a:r>
            <a:r>
              <a:rPr lang="en-US" dirty="0">
                <a:solidFill>
                  <a:srgbClr val="002060"/>
                </a:solidFill>
              </a:rPr>
              <a:t>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      To build an automated system that identifies and categorizes harmful online comments.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FB6002-8587-9F9B-0426-15E1117E6C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897" y="1841276"/>
            <a:ext cx="22453547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oogle Sans"/>
              </a:rPr>
              <a:t>The 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oogle Sans"/>
              </a:rPr>
              <a:t>           Manual moderation is impossible at scale.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oogle Sans"/>
              </a:rPr>
              <a:t>Solution:</a:t>
            </a:r>
            <a:r>
              <a:rPr kumimoji="0" lang="en-US" altLang="en-US" sz="2800" b="0" i="0" u="sng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Google Sans"/>
              </a:rPr>
              <a:t>          A Deep Learning model that detects 6 types of toxicity: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                            Toxic,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                            Severe Toxic,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                            Obscene,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                            Threat,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                            Insult,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                            Identity Hate.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 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57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AD5B-7BE3-EB59-E36E-AC867F65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788DA7-C800-D5B4-0239-DF0A44AEA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420" y="2601819"/>
            <a:ext cx="12876499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Data Type:</a:t>
            </a:r>
            <a:r>
              <a:rPr kumimoji="0" lang="en-US" altLang="en-US" sz="2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150,000+ comments.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Structure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Multi-label dataset (one comment can belong to multiple categories simultaneously).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Key Challenge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High class imbalance (90% of comments are clean).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357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D4DE-60DF-E5A3-A061-DF50FA49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67269"/>
            <a:ext cx="10364451" cy="1003174"/>
          </a:xfrm>
        </p:spPr>
        <p:txBody>
          <a:bodyPr>
            <a:normAutofit/>
          </a:bodyPr>
          <a:lstStyle/>
          <a:p>
            <a:r>
              <a:rPr lang="en-IN" b="1" u="sng" dirty="0"/>
              <a:t>Data Preprocessing (The Pipeline)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5DCDEC-F092-BC74-F444-345146FA96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117" y="1170442"/>
            <a:ext cx="1305882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Lowercasing &amp; Noise Removal:</a:t>
            </a:r>
            <a:r>
              <a:rPr kumimoji="0" lang="en-US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               Standardizing text and removing special characters.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Contraction Expansion:</a:t>
            </a:r>
            <a:r>
              <a:rPr kumimoji="0" lang="en-US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                Converting "can't" to "can not" to preserve meaning.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Lemmatization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                 Using NLTK WordNet to reduce words to their root 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(e.g., "running" → "run").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Tokenization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                 Converting text into numerical sequences for the Neural Network.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557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BDC8-47E1-5209-983A-2F3907AD7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Data Analysis (EDA)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D46C39-CFE8-6580-BD1D-7763CA8C06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117" y="2850170"/>
            <a:ext cx="12756135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Observation: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Google Sans"/>
              </a:rPr>
              <a:t>Toxic and Insult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are the most frequent;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Google Sans"/>
              </a:rPr>
              <a:t>Threats and Identity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Hate are the rarest.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69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7A9CC-BD29-2356-700C-28158A2F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38501"/>
            <a:ext cx="10364451" cy="1155040"/>
          </a:xfrm>
        </p:spPr>
        <p:txBody>
          <a:bodyPr/>
          <a:lstStyle/>
          <a:p>
            <a:r>
              <a:rPr lang="en-IN" b="1" u="sng" dirty="0"/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9107B-4B62-895E-A265-C95B24F96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293541"/>
            <a:ext cx="10638888" cy="54864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u="sng" cap="none" dirty="0">
                <a:latin typeface="Google Sans"/>
              </a:rPr>
              <a:t>Embedding Layer: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cap="none" dirty="0">
                <a:latin typeface="Google Sans"/>
              </a:rPr>
              <a:t> Converts words into dense vectors of fixed size.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800" cap="none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u="sng" cap="none" dirty="0">
                <a:latin typeface="Google Sans"/>
              </a:rPr>
              <a:t>Bidirectional LSTM:</a:t>
            </a:r>
            <a:r>
              <a:rPr lang="en-US" altLang="en-US" sz="2800" u="sng" cap="none" dirty="0">
                <a:latin typeface="Google Sans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cap="none" dirty="0">
                <a:latin typeface="Google Sans"/>
              </a:rPr>
              <a:t>Processes text in both directions (forward and backward) to understand context.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800" cap="none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u="sng" cap="none" dirty="0">
                <a:latin typeface="Google Sans"/>
              </a:rPr>
              <a:t>Dense Layers: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cap="none" dirty="0">
                <a:latin typeface="Google Sans"/>
              </a:rPr>
              <a:t> Fully connected layers for deep feature extraction.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800" cap="none" dirty="0">
              <a:latin typeface="Google San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b="1" u="sng" cap="none" dirty="0">
                <a:latin typeface="Google Sans"/>
              </a:rPr>
              <a:t>Output Layer: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cap="none" dirty="0">
                <a:latin typeface="Google Sans"/>
              </a:rPr>
              <a:t> 6 neurons with </a:t>
            </a:r>
            <a:r>
              <a:rPr lang="en-US" altLang="en-US" sz="2800" b="1" cap="none" dirty="0">
                <a:latin typeface="Google Sans"/>
              </a:rPr>
              <a:t>Sigmoid</a:t>
            </a:r>
            <a:r>
              <a:rPr lang="en-US" altLang="en-US" sz="2800" cap="none" dirty="0">
                <a:latin typeface="Google Sans"/>
              </a:rPr>
              <a:t> activation (allows for multi-label prediction).</a:t>
            </a:r>
            <a:r>
              <a:rPr lang="en-US" altLang="en-US" sz="2800" cap="none" dirty="0"/>
              <a:t> </a:t>
            </a:r>
            <a:endParaRPr lang="en-US" altLang="en-US" sz="2800" cap="none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CDB2B3-6A50-0FFB-D5D7-63CCB20D9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8015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66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8DB2-C9D3-9473-5438-C17B0D99E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64604"/>
            <a:ext cx="10364451" cy="1195846"/>
          </a:xfrm>
        </p:spPr>
        <p:txBody>
          <a:bodyPr/>
          <a:lstStyle/>
          <a:p>
            <a:r>
              <a:rPr lang="en-IN" b="1" u="sng" dirty="0"/>
              <a:t>Training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541F97-7884-0E38-0635-073232B1AB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522750"/>
            <a:ext cx="18856712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Loss Function:</a:t>
            </a:r>
            <a:r>
              <a:rPr kumimoji="0" lang="en-US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Binary Cross-Entropy.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Optimizer: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Adam.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Addressing Imbalance: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Applied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Sample Weights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(ratio ~1:9)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to penalize the model more heavily for missing toxic comments.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Early Stopping:</a:t>
            </a:r>
            <a:r>
              <a:rPr kumimoji="0" lang="en-US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Prevented overfitting by stopping training when validation loss stopped improving.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660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0C419-09D4-4B42-81F0-2139C84E3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Model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67D184-E51C-2530-28FB-49F4930195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8781" y="2140156"/>
            <a:ext cx="18000326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Best Validation Loss:</a:t>
            </a:r>
            <a:r>
              <a:rPr kumimoji="0" lang="en-US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0.0543 (achieved at Epoch 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Reliability:</a:t>
            </a:r>
            <a:r>
              <a:rPr kumimoji="0" lang="en-US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The model successfully identifies toxic intent even in sentences without obvious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"bad words" (e.g., "You are useless").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Metric: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Low Hamming Loss, indicating high accuracy across all 6 labels.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6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6F04-7C38-CF49-CA0D-FF518B9C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Model Performance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51F541-DAA9-8D06-343D-F88E34331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502" y="2575932"/>
            <a:ext cx="11028557" cy="281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35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AE7B-B1E3-253A-8F10-DFED1475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User Interface (</a:t>
            </a:r>
            <a:r>
              <a:rPr lang="en-IN" b="1" u="sng" dirty="0" err="1"/>
              <a:t>Streamlit</a:t>
            </a:r>
            <a:r>
              <a:rPr lang="en-IN" b="1" u="sng" dirty="0"/>
              <a:t> App)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F6C99C-0B36-338A-2A7D-1808B38526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1873" y="2203841"/>
            <a:ext cx="1235381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Live Prediction: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Real-time analysis with probability progress bars.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Bulk Analysis: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Ability to sample Head, Tail, or Random rows from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test.csv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Explainability: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An EDA tab showing how the model cleans and interprets data.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632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9C32A-9DC6-B964-6F35-EC0D2C76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 &amp; 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EE1008-8B82-E1C7-6DA9-58D28A830B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571" y="2000453"/>
            <a:ext cx="16784691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The project successfully demonstrates a scalable solution for content moderation using Bi-LSTM.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Key Learning: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Preprocessing and handling class imbalance are just as important as the model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Future Scope: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Deploying on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Streamlit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Cloud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Implementing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Transformer-based models (BERT)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for even higher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Adding support for multiple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09284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89</TotalTime>
  <Words>492</Words>
  <Application>Microsoft Office PowerPoint</Application>
  <PresentationFormat>Widescreen</PresentationFormat>
  <Paragraphs>95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Courier New</vt:lpstr>
      <vt:lpstr>Google Sans</vt:lpstr>
      <vt:lpstr>Tw Cen MT</vt:lpstr>
      <vt:lpstr>Droplet</vt:lpstr>
      <vt:lpstr>🛡️ AI-Driven Comment Toxicity Detection</vt:lpstr>
      <vt:lpstr>                             Objective:        To build an automated system that identifies and categorizes harmful online comments.</vt:lpstr>
      <vt:lpstr>Dataset Overview</vt:lpstr>
      <vt:lpstr>Data Preprocessing (The Pipeline)</vt:lpstr>
      <vt:lpstr>Exploratory Data Analysis (EDA)</vt:lpstr>
      <vt:lpstr>Model Architecture</vt:lpstr>
      <vt:lpstr>Training Strategy</vt:lpstr>
      <vt:lpstr>Model Performance</vt:lpstr>
      <vt:lpstr>Model Performance</vt:lpstr>
      <vt:lpstr>User Interface (Streamlit App)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sumathi j</dc:creator>
  <cp:lastModifiedBy>sumathi j</cp:lastModifiedBy>
  <cp:revision>1</cp:revision>
  <dcterms:created xsi:type="dcterms:W3CDTF">2026-05-12T05:42:27Z</dcterms:created>
  <dcterms:modified xsi:type="dcterms:W3CDTF">2026-05-12T07:11:48Z</dcterms:modified>
</cp:coreProperties>
</file>